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ource Sans 3 Bold" charset="1" panose="020B0303030403020204"/>
      <p:regular r:id="rId15"/>
    </p:embeddedFont>
    <p:embeddedFont>
      <p:font typeface="Montserrat Bold" charset="1" panose="00000800000000000000"/>
      <p:regular r:id="rId16"/>
    </p:embeddedFont>
    <p:embeddedFont>
      <p:font typeface="Source Sans 3" charset="1" panose="020B0303030403020204"/>
      <p:regular r:id="rId17"/>
    </p:embeddedFont>
    <p:embeddedFont>
      <p:font typeface="Montserrat Italics" charset="1" panose="00000500000000000000"/>
      <p:regular r:id="rId18"/>
    </p:embeddedFont>
    <p:embeddedFont>
      <p:font typeface="Source Sans 3 Italics" charset="1" panose="020B0303030403090204"/>
      <p:regular r:id="rId19"/>
    </p:embeddedFont>
    <p:embeddedFont>
      <p:font typeface="IBM Plex Mono Italics" charset="1" panose="020B0509050203000203"/>
      <p:regular r:id="rId20"/>
    </p:embeddedFont>
    <p:embeddedFont>
      <p:font typeface="IBM Plex Mono" charset="1" panose="020B0509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44250" y="1714500"/>
            <a:ext cx="6191250" cy="6191250"/>
          </a:xfrm>
          <a:custGeom>
            <a:avLst/>
            <a:gdLst/>
            <a:ahLst/>
            <a:cxnLst/>
            <a:rect r="r" b="b" t="t" l="l"/>
            <a:pathLst>
              <a:path h="6191250" w="6191250">
                <a:moveTo>
                  <a:pt x="0" y="0"/>
                </a:moveTo>
                <a:lnTo>
                  <a:pt x="6191250" y="0"/>
                </a:lnTo>
                <a:lnTo>
                  <a:pt x="619125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62000" y="7124700"/>
            <a:ext cx="9239250" cy="742950"/>
            <a:chOff x="0" y="0"/>
            <a:chExt cx="12319000" cy="990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19000" cy="990600"/>
            </a:xfrm>
            <a:custGeom>
              <a:avLst/>
              <a:gdLst/>
              <a:ahLst/>
              <a:cxnLst/>
              <a:rect r="r" b="b" t="t" l="l"/>
              <a:pathLst>
                <a:path h="990600" w="12319000">
                  <a:moveTo>
                    <a:pt x="0" y="0"/>
                  </a:moveTo>
                  <a:lnTo>
                    <a:pt x="12319000" y="0"/>
                  </a:lnTo>
                  <a:lnTo>
                    <a:pt x="12319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73B6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319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104900"/>
            <a:ext cx="90487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PROYECTO ACADÉMICO · ARQUITECTURA DE COMPUTADORES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2381250"/>
            <a:ext cx="9715500" cy="186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5"/>
              </a:lnSpc>
            </a:pPr>
            <a:r>
              <a:rPr lang="en-US" sz="6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Simulador visual</a:t>
            </a:r>
          </a:p>
          <a:p>
            <a:pPr algn="l">
              <a:lnSpc>
                <a:spcPts val="7245"/>
              </a:lnSpc>
            </a:pPr>
            <a:r>
              <a:rPr lang="en-US" sz="6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CPU de 8 bits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4733925"/>
            <a:ext cx="809625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850" b="true">
                <a:solidFill>
                  <a:srgbClr val="FFD44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Google Sheets + Apps Script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5591175"/>
            <a:ext cx="8286750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Elias Daniel Roca Padilla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315200"/>
            <a:ext cx="8572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OBJETIVO  ·  comprender qué ocurre dentro de cada instrucción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715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F6FE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MÓDULOS CONECTADOS POR UN ESTADO COMÚN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104900"/>
            <a:ext cx="14668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224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742950"/>
            <a:ext cx="762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6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20B48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AutoShape 8" id="8"/>
          <p:cNvSpPr/>
          <p:nvPr/>
        </p:nvSpPr>
        <p:spPr>
          <a:xfrm>
            <a:off x="3905250" y="3714750"/>
            <a:ext cx="1428750" cy="0"/>
          </a:xfrm>
          <a:prstGeom prst="line">
            <a:avLst/>
          </a:prstGeom>
          <a:ln cap="flat" w="66675">
            <a:solidFill>
              <a:srgbClr val="1F6F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8763000" y="3095625"/>
            <a:ext cx="1524000" cy="285750"/>
          </a:xfrm>
          <a:prstGeom prst="line">
            <a:avLst/>
          </a:prstGeom>
          <a:ln cap="flat" w="66675">
            <a:solidFill>
              <a:srgbClr val="20B48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8763000" y="4095750"/>
            <a:ext cx="1524000" cy="1381125"/>
          </a:xfrm>
          <a:prstGeom prst="line">
            <a:avLst/>
          </a:prstGeom>
          <a:ln cap="flat" w="66675">
            <a:solidFill>
              <a:srgbClr val="55C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3239750" y="3810000"/>
            <a:ext cx="1143000" cy="381000"/>
          </a:xfrm>
          <a:prstGeom prst="line">
            <a:avLst/>
          </a:prstGeom>
          <a:ln cap="flat" w="66675">
            <a:solidFill>
              <a:srgbClr val="FFD4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47750" y="3000375"/>
            <a:ext cx="2857500" cy="1428750"/>
            <a:chOff x="0" y="0"/>
            <a:chExt cx="3810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845733"/>
                  </a:lnTo>
                  <a:cubicBezTo>
                    <a:pt x="3810000" y="1878465"/>
                    <a:pt x="3783466" y="1905000"/>
                    <a:pt x="3750733" y="1905000"/>
                  </a:cubicBezTo>
                  <a:lnTo>
                    <a:pt x="59267" y="1905000"/>
                  </a:lnTo>
                  <a:cubicBezTo>
                    <a:pt x="26535" y="1905000"/>
                    <a:pt x="0" y="1878465"/>
                    <a:pt x="0" y="1845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F6FE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HOJA</a:t>
              </a:r>
            </a:p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Interfaz</a:t>
              </a:r>
            </a:p>
            <a:p>
              <a:pPr algn="ctr">
                <a:lnSpc>
                  <a:spcPts val="1485"/>
                </a:lnSpc>
              </a:pPr>
              <a:r>
                <a:rPr lang="en-US" sz="1350" i="tru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Muestra visualmente registros, memoria, fases y controles.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34000" y="2667000"/>
            <a:ext cx="3429000" cy="2095500"/>
            <a:chOff x="0" y="0"/>
            <a:chExt cx="4572000" cy="279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4572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2744611"/>
                  </a:lnTo>
                  <a:cubicBezTo>
                    <a:pt x="4572000" y="2771888"/>
                    <a:pt x="4549888" y="2794000"/>
                    <a:pt x="4522611" y="2794000"/>
                  </a:cubicBezTo>
                  <a:lnTo>
                    <a:pt x="49389" y="2794000"/>
                  </a:lnTo>
                  <a:cubicBezTo>
                    <a:pt x="22112" y="2794000"/>
                    <a:pt x="0" y="2771888"/>
                    <a:pt x="0" y="2744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0B1F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4572000" cy="277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CONTROL</a:t>
              </a:r>
            </a:p>
            <a:p>
              <a:pPr algn="ctr">
                <a:lnSpc>
                  <a:spcPts val="3172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Apps Script</a:t>
              </a:r>
            </a:p>
            <a:p>
              <a:pPr algn="ctr">
                <a:lnSpc>
                  <a:spcPts val="1762"/>
                </a:lnSpc>
              </a:pPr>
              <a:r>
                <a:rPr lang="en-US" sz="1250" i="tru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Coordina FETCH, DECODE, EXECUTE y STORE.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0" y="2381250"/>
            <a:ext cx="2952750" cy="1428750"/>
            <a:chOff x="0" y="0"/>
            <a:chExt cx="3937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3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847645"/>
                  </a:lnTo>
                  <a:cubicBezTo>
                    <a:pt x="3937000" y="1862857"/>
                    <a:pt x="3930957" y="1877445"/>
                    <a:pt x="3920201" y="1888201"/>
                  </a:cubicBezTo>
                  <a:cubicBezTo>
                    <a:pt x="3909445" y="1898957"/>
                    <a:pt x="3894856" y="1905000"/>
                    <a:pt x="3879645" y="1905000"/>
                  </a:cubicBezTo>
                  <a:lnTo>
                    <a:pt x="57355" y="1905000"/>
                  </a:lnTo>
                  <a:cubicBezTo>
                    <a:pt x="42143" y="1905000"/>
                    <a:pt x="27555" y="1898957"/>
                    <a:pt x="16799" y="1888201"/>
                  </a:cubicBezTo>
                  <a:cubicBezTo>
                    <a:pt x="6043" y="1877445"/>
                    <a:pt x="0" y="1862857"/>
                    <a:pt x="0" y="1847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20B48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3937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CPU</a:t>
              </a:r>
            </a:p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Registros + ALU</a:t>
              </a:r>
            </a:p>
            <a:p>
              <a:pPr algn="ctr">
                <a:lnSpc>
                  <a:spcPts val="1485"/>
                </a:lnSpc>
              </a:pPr>
              <a:r>
                <a:rPr lang="en-US" sz="1350" i="tru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Procesa instrucciones y realiza operaciones.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0" y="4762500"/>
            <a:ext cx="2952750" cy="1428750"/>
            <a:chOff x="0" y="0"/>
            <a:chExt cx="3937000" cy="190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3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847645"/>
                  </a:lnTo>
                  <a:cubicBezTo>
                    <a:pt x="3937000" y="1862857"/>
                    <a:pt x="3930957" y="1877445"/>
                    <a:pt x="3920201" y="1888201"/>
                  </a:cubicBezTo>
                  <a:cubicBezTo>
                    <a:pt x="3909445" y="1898957"/>
                    <a:pt x="3894856" y="1905000"/>
                    <a:pt x="3879645" y="1905000"/>
                  </a:cubicBezTo>
                  <a:lnTo>
                    <a:pt x="57355" y="1905000"/>
                  </a:lnTo>
                  <a:cubicBezTo>
                    <a:pt x="42143" y="1905000"/>
                    <a:pt x="27555" y="1898957"/>
                    <a:pt x="16799" y="1888201"/>
                  </a:cubicBezTo>
                  <a:cubicBezTo>
                    <a:pt x="6043" y="1877445"/>
                    <a:pt x="0" y="1862857"/>
                    <a:pt x="0" y="1847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3937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RAM</a:t>
              </a:r>
            </a:p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256 bytes</a:t>
              </a:r>
            </a:p>
            <a:p>
              <a:pPr algn="ctr">
                <a:lnSpc>
                  <a:spcPts val="1375"/>
                </a:lnSpc>
              </a:pPr>
              <a:r>
                <a:rPr lang="en-US" sz="1250" i="tru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Guarda instrucciones y datos del programa.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382750" y="3571875"/>
            <a:ext cx="2667000" cy="1428750"/>
            <a:chOff x="0" y="0"/>
            <a:chExt cx="3556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841500"/>
                  </a:lnTo>
                  <a:cubicBezTo>
                    <a:pt x="3556000" y="1876570"/>
                    <a:pt x="3527570" y="1905000"/>
                    <a:pt x="3492500" y="1905000"/>
                  </a:cubicBezTo>
                  <a:lnTo>
                    <a:pt x="63500" y="1905000"/>
                  </a:lnTo>
                  <a:cubicBezTo>
                    <a:pt x="28430" y="1905000"/>
                    <a:pt x="0" y="1876570"/>
                    <a:pt x="0" y="184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D4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3556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LOG</a:t>
              </a:r>
            </a:p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Micro-operaciones</a:t>
              </a:r>
            </a:p>
            <a:p>
              <a:pPr algn="ctr">
                <a:lnSpc>
                  <a:spcPts val="1485"/>
                </a:lnSpc>
              </a:pPr>
              <a:r>
                <a:rPr lang="en-US" sz="1350" i="tru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Registra paso a paso lo que hace la CPU.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476500" y="6838950"/>
            <a:ext cx="13335000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449" i="true">
                <a:solidFill>
                  <a:srgbClr val="12243A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La hoja de cálculo muestra el simulador, mientras Apps Script coordina la ejecución. Desde allí se actualizan los registros, la memoria RAM y el log de micro-operaciones.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2500" y="8477250"/>
            <a:ext cx="16383000" cy="1381125"/>
            <a:chOff x="0" y="0"/>
            <a:chExt cx="21844000" cy="18415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1844000" cy="1841500"/>
              <a:chOff x="0" y="0"/>
              <a:chExt cx="21844000" cy="1841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844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E3F2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1844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44500" y="311150"/>
              <a:ext cx="20955000" cy="873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 b="true">
                  <a:solidFill>
                    <a:srgbClr val="12243A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La arquitectura funciona como un sistema conectado: la interfaz muestra el estado, el control ejecuta la lógica, la CPU procesa instrucciones, la RAM guarda datos y el log registra cada paso.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8477250"/>
            <a:ext cx="16383000" cy="1047750"/>
            <a:chOff x="0" y="0"/>
            <a:chExt cx="21844000" cy="139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844000" cy="1397000"/>
              <a:chOff x="0" y="0"/>
              <a:chExt cx="21844000" cy="139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844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3F2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844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44500" y="311150"/>
              <a:ext cx="209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 b="true">
                  <a:solidFill>
                    <a:srgbClr val="12243A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La RAM tiene 256 posiciones direccionables, desde 00h hasta FFh, y almacena tanto instrucciones como datos.</a:t>
              </a:r>
            </a:p>
          </p:txBody>
        </p:sp>
      </p:grpSp>
      <p:graphicFrame>
        <p:nvGraphicFramePr>
          <p:cNvPr name="Object 10" id="10"/>
          <p:cNvGraphicFramePr/>
          <p:nvPr/>
        </p:nvGraphicFramePr>
        <p:xfrm>
          <a:off x="8286750" y="1758315"/>
          <a:ext cx="16230600" cy="4312279"/>
        </p:xfrm>
        <a:graphic>
          <a:graphicData uri="http://schemas.openxmlformats.org/presentationml/2006/ole">
            <p:oleObj imgW="19469100" imgH="7556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3362325" y="7376787"/>
            <a:ext cx="12037613" cy="736765"/>
          </a:xfrm>
          <a:custGeom>
            <a:avLst/>
            <a:gdLst/>
            <a:ahLst/>
            <a:cxnLst/>
            <a:rect r="r" b="b" t="t" l="l"/>
            <a:pathLst>
              <a:path h="736765" w="12037613">
                <a:moveTo>
                  <a:pt x="0" y="0"/>
                </a:moveTo>
                <a:lnTo>
                  <a:pt x="12037613" y="0"/>
                </a:lnTo>
                <a:lnTo>
                  <a:pt x="12037613" y="736765"/>
                </a:lnTo>
                <a:lnTo>
                  <a:pt x="0" y="736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657971" y="4313710"/>
            <a:ext cx="2266458" cy="2343150"/>
            <a:chOff x="0" y="0"/>
            <a:chExt cx="596927" cy="6171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6927" cy="617126"/>
            </a:xfrm>
            <a:custGeom>
              <a:avLst/>
              <a:gdLst/>
              <a:ahLst/>
              <a:cxnLst/>
              <a:rect r="r" b="b" t="t" l="l"/>
              <a:pathLst>
                <a:path h="617126" w="596927">
                  <a:moveTo>
                    <a:pt x="174209" y="0"/>
                  </a:moveTo>
                  <a:lnTo>
                    <a:pt x="422718" y="0"/>
                  </a:lnTo>
                  <a:cubicBezTo>
                    <a:pt x="518931" y="0"/>
                    <a:pt x="596927" y="77996"/>
                    <a:pt x="596927" y="174209"/>
                  </a:cubicBezTo>
                  <a:lnTo>
                    <a:pt x="596927" y="442917"/>
                  </a:lnTo>
                  <a:cubicBezTo>
                    <a:pt x="596927" y="489120"/>
                    <a:pt x="578573" y="533431"/>
                    <a:pt x="545903" y="566101"/>
                  </a:cubicBezTo>
                  <a:cubicBezTo>
                    <a:pt x="513232" y="598772"/>
                    <a:pt x="468921" y="617126"/>
                    <a:pt x="422718" y="617126"/>
                  </a:cubicBezTo>
                  <a:lnTo>
                    <a:pt x="174209" y="617126"/>
                  </a:lnTo>
                  <a:cubicBezTo>
                    <a:pt x="77996" y="617126"/>
                    <a:pt x="0" y="539130"/>
                    <a:pt x="0" y="442917"/>
                  </a:cubicBezTo>
                  <a:lnTo>
                    <a:pt x="0" y="174209"/>
                  </a:lnTo>
                  <a:cubicBezTo>
                    <a:pt x="0" y="77996"/>
                    <a:pt x="77996" y="0"/>
                    <a:pt x="174209" y="0"/>
                  </a:cubicBezTo>
                  <a:close/>
                </a:path>
              </a:pathLst>
            </a:custGeom>
            <a:solidFill>
              <a:srgbClr val="1F6FE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596927" cy="598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52500" y="5715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F6FE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DIRECCIONES 00–FF · UN BYTE POR CELDA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1104900"/>
            <a:ext cx="14668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224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Memoria y estado interno de la CPU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73500" y="742950"/>
            <a:ext cx="762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6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20B48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149792"/>
            <a:ext cx="4762500" cy="155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2"/>
              </a:lnSpc>
            </a:pPr>
            <a:r>
              <a:rPr lang="en-US" sz="11250" b="true">
                <a:solidFill>
                  <a:srgbClr val="1F6F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256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3950" y="3502342"/>
            <a:ext cx="4476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12243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direcciones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0571" y="4713760"/>
            <a:ext cx="4872692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00h – FFh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1 BYTE POR CELDA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8 BITS POR BYTE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00h–7Fh → CÓDIGO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80h–FFh →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19675" y="4713760"/>
            <a:ext cx="154305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FFFFFF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00h → 10h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FFFFFF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01h → 01h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FFFFFF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02h → 00h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 i="true">
                <a:solidFill>
                  <a:srgbClr val="FFFFFF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MOV AX, 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8477250"/>
            <a:ext cx="16383000" cy="1047750"/>
            <a:chOff x="0" y="0"/>
            <a:chExt cx="21844000" cy="139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844000" cy="1397000"/>
              <a:chOff x="0" y="0"/>
              <a:chExt cx="21844000" cy="139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844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3F2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844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44500" y="311150"/>
              <a:ext cx="209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 b="true">
                  <a:solidFill>
                    <a:srgbClr val="12243A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El opcode es el byte que le indica a la CPU qué operación debe ejecutar.</a:t>
              </a:r>
            </a:p>
          </p:txBody>
        </p:sp>
      </p:grpSp>
      <p:graphicFrame>
        <p:nvGraphicFramePr>
          <p:cNvPr name="Object 10" id="10"/>
          <p:cNvGraphicFramePr/>
          <p:nvPr/>
        </p:nvGraphicFramePr>
        <p:xfrm>
          <a:off x="1028700" y="1987327"/>
          <a:ext cx="5657850" cy="3771900"/>
        </p:xfrm>
        <a:graphic>
          <a:graphicData uri="http://schemas.openxmlformats.org/presentationml/2006/ole">
            <p:oleObj imgW="6781800" imgH="490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585098"/>
            <a:ext cx="14668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224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ISA — “Qué órdenes entiende nuestra CPU”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73500" y="742950"/>
            <a:ext cx="762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6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20B48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430742" y="2556347"/>
            <a:ext cx="3828558" cy="2343150"/>
            <a:chOff x="0" y="0"/>
            <a:chExt cx="1008344" cy="617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8344" cy="617126"/>
            </a:xfrm>
            <a:custGeom>
              <a:avLst/>
              <a:gdLst/>
              <a:ahLst/>
              <a:cxnLst/>
              <a:rect r="r" b="b" t="t" l="l"/>
              <a:pathLst>
                <a:path h="617126" w="1008344">
                  <a:moveTo>
                    <a:pt x="103130" y="0"/>
                  </a:moveTo>
                  <a:lnTo>
                    <a:pt x="905215" y="0"/>
                  </a:lnTo>
                  <a:cubicBezTo>
                    <a:pt x="932567" y="0"/>
                    <a:pt x="958798" y="10865"/>
                    <a:pt x="978138" y="30206"/>
                  </a:cubicBezTo>
                  <a:cubicBezTo>
                    <a:pt x="997479" y="49547"/>
                    <a:pt x="1008344" y="75778"/>
                    <a:pt x="1008344" y="103130"/>
                  </a:cubicBezTo>
                  <a:lnTo>
                    <a:pt x="1008344" y="513996"/>
                  </a:lnTo>
                  <a:cubicBezTo>
                    <a:pt x="1008344" y="541348"/>
                    <a:pt x="997479" y="567579"/>
                    <a:pt x="978138" y="586920"/>
                  </a:cubicBezTo>
                  <a:cubicBezTo>
                    <a:pt x="958798" y="606261"/>
                    <a:pt x="932567" y="617126"/>
                    <a:pt x="905215" y="617126"/>
                  </a:cubicBezTo>
                  <a:lnTo>
                    <a:pt x="103130" y="617126"/>
                  </a:lnTo>
                  <a:cubicBezTo>
                    <a:pt x="75778" y="617126"/>
                    <a:pt x="49547" y="606261"/>
                    <a:pt x="30206" y="586920"/>
                  </a:cubicBezTo>
                  <a:cubicBezTo>
                    <a:pt x="10865" y="567579"/>
                    <a:pt x="0" y="541348"/>
                    <a:pt x="0" y="513996"/>
                  </a:cubicBezTo>
                  <a:lnTo>
                    <a:pt x="0" y="103130"/>
                  </a:lnTo>
                  <a:cubicBezTo>
                    <a:pt x="0" y="75778"/>
                    <a:pt x="10865" y="49547"/>
                    <a:pt x="30206" y="30206"/>
                  </a:cubicBezTo>
                  <a:cubicBezTo>
                    <a:pt x="49547" y="10865"/>
                    <a:pt x="75778" y="0"/>
                    <a:pt x="103130" y="0"/>
                  </a:cubicBezTo>
                  <a:close/>
                </a:path>
              </a:pathLst>
            </a:custGeom>
            <a:solidFill>
              <a:srgbClr val="1F6FE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008344" cy="598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785682" y="2799235"/>
            <a:ext cx="3086100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10h → MOV reg, imm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30h → ADD reg, imm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35h → DEC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36h → CMP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42h → JNZ</a:t>
            </a:r>
          </a:p>
          <a:p>
            <a:pPr algn="l">
              <a:lnSpc>
                <a:spcPts val="2475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FFh → HLT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715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F6FE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OPERACIONES DE 8 BITS CON SEÑALES DE ESTADO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085850"/>
            <a:ext cx="146685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 b="true">
                <a:solidFill>
                  <a:srgbClr val="1224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OPERACIONES ARITMÉTICAS, LÓGICAS Y BANDERAS DE ESTADO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742950"/>
            <a:ext cx="762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6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20B48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AutoShape 8" id="8"/>
          <p:cNvSpPr/>
          <p:nvPr/>
        </p:nvSpPr>
        <p:spPr>
          <a:xfrm>
            <a:off x="3810000" y="3905250"/>
            <a:ext cx="2381250" cy="0"/>
          </a:xfrm>
          <a:prstGeom prst="line">
            <a:avLst/>
          </a:prstGeom>
          <a:ln cap="flat" w="76200">
            <a:solidFill>
              <a:srgbClr val="20B48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3810000" y="4762500"/>
            <a:ext cx="2381250" cy="1047750"/>
          </a:xfrm>
          <a:prstGeom prst="line">
            <a:avLst/>
          </a:prstGeom>
          <a:ln cap="flat" w="76200">
            <a:solidFill>
              <a:srgbClr val="55C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2096750" y="4143375"/>
            <a:ext cx="1809750" cy="0"/>
          </a:xfrm>
          <a:prstGeom prst="line">
            <a:avLst/>
          </a:prstGeom>
          <a:ln cap="flat" w="76200">
            <a:solidFill>
              <a:srgbClr val="FFD4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191250" y="2857500"/>
            <a:ext cx="5905500" cy="2571750"/>
            <a:chOff x="0" y="0"/>
            <a:chExt cx="7874000" cy="342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74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78740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3400323"/>
                  </a:lnTo>
                  <a:cubicBezTo>
                    <a:pt x="7874000" y="3416161"/>
                    <a:pt x="7861160" y="3429000"/>
                    <a:pt x="7845323" y="3429000"/>
                  </a:cubicBezTo>
                  <a:lnTo>
                    <a:pt x="28677" y="3429000"/>
                  </a:lnTo>
                  <a:cubicBezTo>
                    <a:pt x="12839" y="3429000"/>
                    <a:pt x="0" y="3416161"/>
                    <a:pt x="0" y="34003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F6FE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7874000" cy="340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ALU</a:t>
              </a:r>
            </a:p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ADD · SUB · INC · DEC · CMP</a:t>
              </a:r>
            </a:p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AND · OR · XOR · NOT</a:t>
              </a:r>
            </a:p>
            <a:p>
              <a:pPr algn="ctr">
                <a:lnSpc>
                  <a:spcPts val="280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90750" y="3590925"/>
            <a:ext cx="1714500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true">
                <a:solidFill>
                  <a:srgbClr val="20B48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AX</a:t>
            </a:r>
          </a:p>
          <a:p>
            <a:pPr algn="l">
              <a:lnSpc>
                <a:spcPts val="1785"/>
              </a:lnSpc>
            </a:pPr>
            <a:r>
              <a:rPr lang="en-US" sz="1700" i="true">
                <a:solidFill>
                  <a:srgbClr val="20B486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Acumulador principal</a:t>
            </a:r>
          </a:p>
          <a:p>
            <a:pPr algn="l">
              <a:lnSpc>
                <a:spcPts val="472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190750" y="5495925"/>
            <a:ext cx="1714500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true">
                <a:solidFill>
                  <a:srgbClr val="55C2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BX</a:t>
            </a:r>
          </a:p>
          <a:p>
            <a:pPr algn="l">
              <a:lnSpc>
                <a:spcPts val="2310"/>
              </a:lnSpc>
            </a:pPr>
            <a:r>
              <a:rPr lang="en-US" sz="2200" i="true">
                <a:solidFill>
                  <a:srgbClr val="55C2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Registro auxiliar</a:t>
            </a:r>
          </a:p>
          <a:p>
            <a:pPr algn="l">
              <a:lnSpc>
                <a:spcPts val="472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097000" y="3867150"/>
            <a:ext cx="2857500" cy="145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179" b="true">
                <a:solidFill>
                  <a:srgbClr val="1F6FE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RESULTADO</a:t>
            </a:r>
          </a:p>
          <a:p>
            <a:pPr algn="l">
              <a:lnSpc>
                <a:spcPts val="2170"/>
              </a:lnSpc>
            </a:pPr>
            <a:r>
              <a:rPr lang="en-US" sz="1550" i="true" spc="124">
                <a:solidFill>
                  <a:srgbClr val="1F6FEB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El resultado vuelve</a:t>
            </a:r>
          </a:p>
          <a:p>
            <a:pPr algn="l">
              <a:lnSpc>
                <a:spcPts val="2170"/>
              </a:lnSpc>
            </a:pPr>
            <a:r>
              <a:rPr lang="en-US" sz="1550" i="true" spc="124">
                <a:solidFill>
                  <a:srgbClr val="1F6FEB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a un registro o actualiza flags</a:t>
            </a:r>
          </a:p>
          <a:p>
            <a:pPr algn="l">
              <a:lnSpc>
                <a:spcPts val="217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191000" y="6172200"/>
            <a:ext cx="40957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b="true">
                <a:solidFill>
                  <a:srgbClr val="12243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ZF · Zero Flag</a:t>
            </a:r>
          </a:p>
          <a:p>
            <a:pPr algn="l">
              <a:lnSpc>
                <a:spcPts val="2925"/>
              </a:lnSpc>
            </a:pPr>
            <a:r>
              <a:rPr lang="en-US" sz="2250" i="true">
                <a:solidFill>
                  <a:srgbClr val="12243A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1 cuando el resultado es 0</a:t>
            </a:r>
          </a:p>
          <a:p>
            <a:pPr algn="l">
              <a:lnSpc>
                <a:spcPts val="292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001000" y="6096000"/>
            <a:ext cx="40957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b="true">
                <a:solidFill>
                  <a:srgbClr val="12243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CF · Carry Flag</a:t>
            </a:r>
          </a:p>
          <a:p>
            <a:pPr algn="l">
              <a:lnSpc>
                <a:spcPts val="2925"/>
              </a:lnSpc>
            </a:pPr>
            <a:r>
              <a:rPr lang="en-US" sz="2250" i="true">
                <a:solidFill>
                  <a:srgbClr val="12243A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1 cuando hay acarreo o préstamo</a:t>
            </a:r>
          </a:p>
          <a:p>
            <a:pPr algn="l">
              <a:lnSpc>
                <a:spcPts val="2925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952500" y="8477250"/>
            <a:ext cx="16383000" cy="1381125"/>
            <a:chOff x="0" y="0"/>
            <a:chExt cx="21844000" cy="1841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1844000" cy="1841500"/>
              <a:chOff x="0" y="0"/>
              <a:chExt cx="21844000" cy="1841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844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E3F2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1844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44500" y="311150"/>
              <a:ext cx="20955000" cy="873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 b="true">
                  <a:solidFill>
                    <a:srgbClr val="12243A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La ALU es la “calculadora” de la CPU: recibe valores de los registros, realiza la operación y actualiza las banderas ZF, CF y SF según el resultado.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382500" y="6096000"/>
            <a:ext cx="40957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b="true">
                <a:solidFill>
                  <a:srgbClr val="12243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SF · Sign Flag</a:t>
            </a:r>
          </a:p>
          <a:p>
            <a:pPr algn="l">
              <a:lnSpc>
                <a:spcPts val="2925"/>
              </a:lnSpc>
            </a:pPr>
            <a:r>
              <a:rPr lang="en-US" sz="2250" i="true">
                <a:solidFill>
                  <a:srgbClr val="12243A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1 cuando el bit de signo está activo</a:t>
            </a:r>
          </a:p>
          <a:p>
            <a:pPr algn="l">
              <a:lnSpc>
                <a:spcPts val="292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715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LA MISMA SECUENCIA, INSTRUCCIÓN TRAS INSTRUCCIÓN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104900"/>
            <a:ext cx="14668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Ciclo de instrucción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742950"/>
            <a:ext cx="762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62"/>
              </a:lnSpc>
              <a:spcBef>
                <a:spcPct val="0"/>
              </a:spcBef>
            </a:pPr>
            <a:r>
              <a:rPr lang="en-US" b="true" sz="2250">
                <a:solidFill>
                  <a:srgbClr val="FFD44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5375" y="3333750"/>
            <a:ext cx="3238500" cy="2000250"/>
            <a:chOff x="0" y="0"/>
            <a:chExt cx="4318000" cy="266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2614706"/>
                  </a:lnTo>
                  <a:cubicBezTo>
                    <a:pt x="4318000" y="2643587"/>
                    <a:pt x="4294587" y="2667000"/>
                    <a:pt x="4265706" y="2667000"/>
                  </a:cubicBezTo>
                  <a:lnTo>
                    <a:pt x="52294" y="2667000"/>
                  </a:lnTo>
                  <a:cubicBezTo>
                    <a:pt x="23413" y="2667000"/>
                    <a:pt x="0" y="2643587"/>
                    <a:pt x="0" y="2614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F6FE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431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· FETCH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Traer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333875" y="4333875"/>
            <a:ext cx="1047750" cy="0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381625" y="3333750"/>
            <a:ext cx="3238500" cy="2000250"/>
            <a:chOff x="0" y="0"/>
            <a:chExt cx="4318000" cy="266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1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2614706"/>
                  </a:lnTo>
                  <a:cubicBezTo>
                    <a:pt x="4318000" y="2643587"/>
                    <a:pt x="4294587" y="2667000"/>
                    <a:pt x="4265706" y="2667000"/>
                  </a:cubicBezTo>
                  <a:lnTo>
                    <a:pt x="52294" y="2667000"/>
                  </a:lnTo>
                  <a:cubicBezTo>
                    <a:pt x="23413" y="2667000"/>
                    <a:pt x="0" y="2643587"/>
                    <a:pt x="0" y="2614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431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 · DECODE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Interpretar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620125" y="4333875"/>
            <a:ext cx="1047750" cy="0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67875" y="3333750"/>
            <a:ext cx="3238500" cy="2000250"/>
            <a:chOff x="0" y="0"/>
            <a:chExt cx="4318000" cy="266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1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2614706"/>
                  </a:lnTo>
                  <a:cubicBezTo>
                    <a:pt x="4318000" y="2643587"/>
                    <a:pt x="4294587" y="2667000"/>
                    <a:pt x="4265706" y="2667000"/>
                  </a:cubicBezTo>
                  <a:lnTo>
                    <a:pt x="52294" y="2667000"/>
                  </a:lnTo>
                  <a:cubicBezTo>
                    <a:pt x="23413" y="2667000"/>
                    <a:pt x="0" y="2643587"/>
                    <a:pt x="0" y="2614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20B48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431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· EXECUTE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Ejecutar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906375" y="4333875"/>
            <a:ext cx="1047750" cy="0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954125" y="3333750"/>
            <a:ext cx="3238500" cy="2000250"/>
            <a:chOff x="0" y="0"/>
            <a:chExt cx="4318000" cy="266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1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2614706"/>
                  </a:lnTo>
                  <a:cubicBezTo>
                    <a:pt x="4318000" y="2643587"/>
                    <a:pt x="4294587" y="2667000"/>
                    <a:pt x="4265706" y="2667000"/>
                  </a:cubicBezTo>
                  <a:lnTo>
                    <a:pt x="52294" y="2667000"/>
                  </a:lnTo>
                  <a:cubicBezTo>
                    <a:pt x="23413" y="2667000"/>
                    <a:pt x="0" y="2643587"/>
                    <a:pt x="0" y="2614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FFD4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431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 · STORE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Guardar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8477250"/>
            <a:ext cx="16383000" cy="1047750"/>
            <a:chOff x="0" y="0"/>
            <a:chExt cx="21844000" cy="1397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1844000" cy="1397000"/>
              <a:chOff x="0" y="0"/>
              <a:chExt cx="21844000" cy="1397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844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1836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1844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44500" y="311150"/>
              <a:ext cx="209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Cada instrucción repite el mismo ciclo: traerla de memoria, entenderla, ejecutarla y guardar su resultado.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95375" y="5838825"/>
            <a:ext cx="3238500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PC → MAR → RAM → MDR → IR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Trae el opcode.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66688" y="5838825"/>
            <a:ext cx="3153437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DECODE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Interpreta opcode y operandos.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67875" y="5838825"/>
            <a:ext cx="3238500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EXECUTE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Realiza operación / salto y actualiza flags.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54125" y="5838825"/>
            <a:ext cx="3238500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STORE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Guarda el resultado.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715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NTR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OL DE FL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U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JO 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 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AN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</a:t>
            </a:r>
            <a:r>
              <a:rPr lang="en-US" b="true" sz="1650" spc="132" strike="noStrike" u="non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104900"/>
            <a:ext cx="14668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CMP + JN</a:t>
            </a: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Z:</a:t>
            </a: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cómo decide el bucle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742950"/>
            <a:ext cx="762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62"/>
              </a:lnSpc>
              <a:spcBef>
                <a:spcPct val="0"/>
              </a:spcBef>
            </a:pPr>
            <a:r>
              <a:rPr lang="en-US" b="true" sz="2250">
                <a:solidFill>
                  <a:srgbClr val="FFD44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5375" y="3333750"/>
            <a:ext cx="3238500" cy="2000250"/>
            <a:chOff x="0" y="0"/>
            <a:chExt cx="4318000" cy="266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2614706"/>
                  </a:lnTo>
                  <a:cubicBezTo>
                    <a:pt x="4318000" y="2643587"/>
                    <a:pt x="4294587" y="2667000"/>
                    <a:pt x="4265706" y="2667000"/>
                  </a:cubicBezTo>
                  <a:lnTo>
                    <a:pt x="52294" y="2667000"/>
                  </a:lnTo>
                  <a:cubicBezTo>
                    <a:pt x="23413" y="2667000"/>
                    <a:pt x="0" y="2643587"/>
                    <a:pt x="0" y="2614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F6FE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431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· </a:t>
              </a:r>
              <a:r>
                <a:rPr lang="en-US" b="true" sz="22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</a:t>
              </a:r>
              <a:r>
                <a:rPr lang="en-US" b="true" sz="22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EC</a:t>
              </a:r>
              <a:r>
                <a:rPr lang="en-US" b="true" sz="22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BX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BX b</a:t>
              </a: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</a:t>
              </a: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ja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5 → 4 → 3 → 2 → 1 → 0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333875" y="4333875"/>
            <a:ext cx="1047750" cy="0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381625" y="3333750"/>
            <a:ext cx="3238500" cy="2000250"/>
            <a:chOff x="0" y="0"/>
            <a:chExt cx="4318000" cy="266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1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2614706"/>
                  </a:lnTo>
                  <a:cubicBezTo>
                    <a:pt x="4318000" y="2643587"/>
                    <a:pt x="4294587" y="2667000"/>
                    <a:pt x="4265706" y="2667000"/>
                  </a:cubicBezTo>
                  <a:lnTo>
                    <a:pt x="52294" y="2667000"/>
                  </a:lnTo>
                  <a:cubicBezTo>
                    <a:pt x="23413" y="2667000"/>
                    <a:pt x="0" y="2643587"/>
                    <a:pt x="0" y="2614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431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 · C</a:t>
              </a:r>
              <a:r>
                <a:rPr lang="en-US" b="true" sz="2250" strike="noStrike" u="non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MP BX, 0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Com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p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r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 BX con 0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sin modific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ar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 BX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620125" y="4333875"/>
            <a:ext cx="1047750" cy="0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67875" y="3333750"/>
            <a:ext cx="3238500" cy="2000250"/>
            <a:chOff x="0" y="0"/>
            <a:chExt cx="4318000" cy="266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1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2614706"/>
                  </a:lnTo>
                  <a:cubicBezTo>
                    <a:pt x="4318000" y="2643587"/>
                    <a:pt x="4294587" y="2667000"/>
                    <a:pt x="4265706" y="2667000"/>
                  </a:cubicBezTo>
                  <a:lnTo>
                    <a:pt x="52294" y="2667000"/>
                  </a:lnTo>
                  <a:cubicBezTo>
                    <a:pt x="23413" y="2667000"/>
                    <a:pt x="0" y="2643587"/>
                    <a:pt x="0" y="2614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20B48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431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· </a:t>
              </a:r>
              <a:r>
                <a:rPr lang="en-US" b="true" sz="22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ZF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ZF = 0 → no llegó a 0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ZF = 1 → ll</a:t>
              </a: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e</a:t>
              </a: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gó </a:t>
              </a: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</a:t>
              </a:r>
              <a:r>
                <a:rPr lang="en-US" sz="2250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 0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906375" y="4333875"/>
            <a:ext cx="1047750" cy="0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954125" y="3333750"/>
            <a:ext cx="3238500" cy="2000250"/>
            <a:chOff x="0" y="0"/>
            <a:chExt cx="4318000" cy="266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1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2614706"/>
                  </a:lnTo>
                  <a:cubicBezTo>
                    <a:pt x="4318000" y="2643587"/>
                    <a:pt x="4294587" y="2667000"/>
                    <a:pt x="4265706" y="2667000"/>
                  </a:cubicBezTo>
                  <a:lnTo>
                    <a:pt x="52294" y="2667000"/>
                  </a:lnTo>
                  <a:cubicBezTo>
                    <a:pt x="23413" y="2667000"/>
                    <a:pt x="0" y="2643587"/>
                    <a:pt x="0" y="2614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FFD4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431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 · </a:t>
              </a:r>
              <a:r>
                <a:rPr lang="en-US" b="true" sz="2250" strike="noStrike" u="non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JNZ 06h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ZF = 0 → 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S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AL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T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</a:t>
              </a:r>
            </a:p>
            <a:p>
              <a:pPr algn="ctr" marL="0" indent="0" lvl="0">
                <a:lnSpc>
                  <a:spcPts val="2475"/>
                </a:lnSpc>
                <a:spcBef>
                  <a:spcPct val="0"/>
                </a:spcBef>
              </a:pP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ZF = 1 → C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O</a:t>
              </a:r>
              <a:r>
                <a:rPr lang="en-US" sz="2250" i="true" strike="noStrike" u="non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NTINÚA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8477250"/>
            <a:ext cx="16383000" cy="1047750"/>
            <a:chOff x="0" y="0"/>
            <a:chExt cx="21844000" cy="1397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1844000" cy="1397000"/>
              <a:chOff x="0" y="0"/>
              <a:chExt cx="21844000" cy="1397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844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1836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1844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44500" y="311150"/>
              <a:ext cx="209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El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uc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le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te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mi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na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c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uand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 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BX lleg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 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0: CMP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ZF = 1 y JNZ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de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j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 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s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al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r;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des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u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és con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inú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STORE [F0h], AX</a:t>
              </a:r>
              <a:r>
                <a:rPr lang="en-US" b="true" sz="202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95375" y="5838825"/>
            <a:ext cx="3238500" cy="119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espués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suma,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BX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funci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na como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co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nta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or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66688" y="5838825"/>
            <a:ext cx="3153437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MP calcul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BX -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y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actualiz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ZF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67875" y="5838825"/>
            <a:ext cx="3238500" cy="119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JNZ no r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v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BX di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ect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mente: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ns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lta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la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ndera ZF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54125" y="5838825"/>
            <a:ext cx="3238500" cy="119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 s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lt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, PC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vu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el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ve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 06h,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donde 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est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á ADD AX, 3</a:t>
            </a:r>
            <a:r>
              <a:rPr lang="en-US" sz="2250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</a:t>
            </a:r>
          </a:p>
          <a:p>
            <a:pPr algn="l" marL="0" indent="0" lvl="0">
              <a:lnSpc>
                <a:spcPts val="236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715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5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3 × 5 MEDIANTE SUMAS REPETIDAS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104900"/>
            <a:ext cx="14668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Programa demostrativo con bucle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742950"/>
            <a:ext cx="762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62"/>
              </a:lnSpc>
              <a:spcBef>
                <a:spcPct val="0"/>
              </a:spcBef>
            </a:pPr>
            <a:r>
              <a:rPr lang="en-US" b="true" sz="2250">
                <a:solidFill>
                  <a:srgbClr val="FFD44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00" y="2190750"/>
            <a:ext cx="7810500" cy="5334000"/>
            <a:chOff x="0" y="0"/>
            <a:chExt cx="10414000" cy="711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132F5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71600" y="2505075"/>
            <a:ext cx="6858000" cy="478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3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MOV AX, 0</a:t>
            </a:r>
          </a:p>
          <a:p>
            <a:pPr algn="l">
              <a:lnSpc>
                <a:spcPts val="3487"/>
              </a:lnSpc>
            </a:pPr>
            <a:r>
              <a:rPr lang="en-US" sz="23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MOV BX, 5</a:t>
            </a: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  <a:r>
              <a:rPr lang="en-US" sz="23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LOOP:</a:t>
            </a:r>
          </a:p>
          <a:p>
            <a:pPr algn="l">
              <a:lnSpc>
                <a:spcPts val="3487"/>
              </a:lnSpc>
            </a:pPr>
            <a:r>
              <a:rPr lang="en-US" sz="23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ADD AX, 3</a:t>
            </a:r>
          </a:p>
          <a:p>
            <a:pPr algn="l">
              <a:lnSpc>
                <a:spcPts val="3487"/>
              </a:lnSpc>
            </a:pPr>
            <a:r>
              <a:rPr lang="en-US" sz="23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 BX</a:t>
            </a:r>
          </a:p>
          <a:p>
            <a:pPr algn="l">
              <a:lnSpc>
                <a:spcPts val="3487"/>
              </a:lnSpc>
            </a:pPr>
            <a:r>
              <a:rPr lang="en-US" sz="23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CMP BX, 0</a:t>
            </a:r>
          </a:p>
          <a:p>
            <a:pPr algn="l">
              <a:lnSpc>
                <a:spcPts val="3487"/>
              </a:lnSpc>
            </a:pPr>
            <a:r>
              <a:rPr lang="en-US" sz="23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JNZ LOOP</a:t>
            </a: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  <a:r>
              <a:rPr lang="en-US" sz="23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STORE [F0h], AX</a:t>
            </a:r>
          </a:p>
          <a:p>
            <a:pPr algn="l">
              <a:lnSpc>
                <a:spcPts val="3337"/>
              </a:lnSpc>
            </a:pPr>
            <a:r>
              <a:rPr lang="en-US" sz="22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HLT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91750" y="2905125"/>
            <a:ext cx="61912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Multiplicación mediante sumas repetidas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91750" y="4019550"/>
            <a:ext cx="619125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AX acumula el resultado.</a:t>
            </a:r>
          </a:p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BX funciona como contador.</a:t>
            </a:r>
          </a:p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CMP verifica si BX llegó a cero.</a:t>
            </a:r>
          </a:p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JNZ repite el bucle mientras BX sea distinto de cero.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91750" y="6248400"/>
            <a:ext cx="619125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 b="true">
                <a:solidFill>
                  <a:srgbClr val="FFD44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 + 3 + 3 + 3 + 3 + 3 = 15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2500" y="8477250"/>
            <a:ext cx="16383000" cy="1047750"/>
            <a:chOff x="0" y="0"/>
            <a:chExt cx="21844000" cy="1397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1844000" cy="1397000"/>
              <a:chOff x="0" y="0"/>
              <a:chExt cx="21844000" cy="1397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844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1836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1844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4500" y="311150"/>
              <a:ext cx="209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Este programa prueba registros, ALU, flags, saltos condicionales, escritura en RAM y HLT en una sola ejecución.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715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F6FE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CÓDIGO, DECISIONES Y PROGRESO TRAZABLE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104900"/>
            <a:ext cx="14668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224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Evidencia en GitHub y gestión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742950"/>
            <a:ext cx="762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62"/>
              </a:lnSpc>
              <a:spcBef>
                <a:spcPct val="0"/>
              </a:spcBef>
            </a:pPr>
            <a:r>
              <a:rPr lang="en-US" b="true" sz="2250">
                <a:solidFill>
                  <a:srgbClr val="20B48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38250" y="3333750"/>
            <a:ext cx="3048000" cy="1714500"/>
            <a:chOff x="0" y="0"/>
            <a:chExt cx="40640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2230438"/>
                  </a:lnTo>
                  <a:cubicBezTo>
                    <a:pt x="4064000" y="2261124"/>
                    <a:pt x="4039124" y="2286000"/>
                    <a:pt x="4008438" y="2286000"/>
                  </a:cubicBezTo>
                  <a:lnTo>
                    <a:pt x="55562" y="2286000"/>
                  </a:lnTo>
                  <a:cubicBezTo>
                    <a:pt x="24876" y="2286000"/>
                    <a:pt x="0" y="2261124"/>
                    <a:pt x="0" y="2230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F6FE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4064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ISSUE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Planificar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i="tru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Cada tarea del proyecto se definió como una issue.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286250" y="4191000"/>
            <a:ext cx="1143000" cy="0"/>
          </a:xfrm>
          <a:prstGeom prst="line">
            <a:avLst/>
          </a:prstGeom>
          <a:ln cap="flat" w="76200">
            <a:solidFill>
              <a:srgbClr val="0B1F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429250" y="3333750"/>
            <a:ext cx="3048000" cy="1714500"/>
            <a:chOff x="0" y="0"/>
            <a:chExt cx="40640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2230438"/>
                  </a:lnTo>
                  <a:cubicBezTo>
                    <a:pt x="4064000" y="2261124"/>
                    <a:pt x="4039124" y="2286000"/>
                    <a:pt x="4008438" y="2286000"/>
                  </a:cubicBezTo>
                  <a:lnTo>
                    <a:pt x="55562" y="2286000"/>
                  </a:lnTo>
                  <a:cubicBezTo>
                    <a:pt x="24876" y="2286000"/>
                    <a:pt x="0" y="2261124"/>
                    <a:pt x="0" y="2230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20B48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4064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COMMIT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Implementar</a:t>
              </a:r>
            </a:p>
            <a:p>
              <a:pPr algn="ctr">
                <a:lnSpc>
                  <a:spcPts val="1512"/>
                </a:lnSpc>
              </a:pPr>
              <a:r>
                <a:rPr lang="en-US" sz="1375" i="tru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Cada avance funcional se registró con commits separados.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477250" y="4191000"/>
            <a:ext cx="1143000" cy="0"/>
          </a:xfrm>
          <a:prstGeom prst="line">
            <a:avLst/>
          </a:prstGeom>
          <a:ln cap="flat" w="76200">
            <a:solidFill>
              <a:srgbClr val="0B1F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20250" y="3333750"/>
            <a:ext cx="3048000" cy="1714500"/>
            <a:chOff x="0" y="0"/>
            <a:chExt cx="40640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2230438"/>
                  </a:lnTo>
                  <a:cubicBezTo>
                    <a:pt x="4064000" y="2261124"/>
                    <a:pt x="4039124" y="2286000"/>
                    <a:pt x="4008438" y="2286000"/>
                  </a:cubicBezTo>
                  <a:lnTo>
                    <a:pt x="55562" y="2286000"/>
                  </a:lnTo>
                  <a:cubicBezTo>
                    <a:pt x="24876" y="2286000"/>
                    <a:pt x="0" y="2261124"/>
                    <a:pt x="0" y="2230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5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4064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TEST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Verificar</a:t>
              </a:r>
            </a:p>
            <a:p>
              <a:pPr algn="ctr">
                <a:lnSpc>
                  <a:spcPts val="1512"/>
                </a:lnSpc>
              </a:pPr>
              <a:r>
                <a:rPr lang="en-US" sz="1375" i="tru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Cada módulo se probó antes de marcarlo como terminado.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668250" y="4191000"/>
            <a:ext cx="1143000" cy="0"/>
          </a:xfrm>
          <a:prstGeom prst="line">
            <a:avLst/>
          </a:prstGeom>
          <a:ln cap="flat" w="76200">
            <a:solidFill>
              <a:srgbClr val="0B1F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811250" y="3333750"/>
            <a:ext cx="3048000" cy="1714500"/>
            <a:chOff x="0" y="0"/>
            <a:chExt cx="4064000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2230438"/>
                  </a:lnTo>
                  <a:cubicBezTo>
                    <a:pt x="4064000" y="2261124"/>
                    <a:pt x="4039124" y="2286000"/>
                    <a:pt x="4008438" y="2286000"/>
                  </a:cubicBezTo>
                  <a:lnTo>
                    <a:pt x="55562" y="2286000"/>
                  </a:lnTo>
                  <a:cubicBezTo>
                    <a:pt x="24876" y="2286000"/>
                    <a:pt x="0" y="2261124"/>
                    <a:pt x="0" y="2230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FFD4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4064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README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Documentar</a:t>
              </a:r>
            </a:p>
            <a:p>
              <a:pPr algn="ctr">
                <a:lnSpc>
                  <a:spcPts val="1622"/>
                </a:lnSpc>
              </a:pPr>
              <a:r>
                <a:rPr lang="en-US" sz="1475" i="true">
                  <a:solidFill>
                    <a:srgbClr val="0B1F3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Se documentó arquitectura, ISA, manual y pruebas.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857500" y="6096000"/>
            <a:ext cx="1257300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b="true">
                <a:solidFill>
                  <a:srgbClr val="1224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 muestra tanto el código final como la evolución del proyecto.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2500" y="8477250"/>
            <a:ext cx="16383000" cy="1047750"/>
            <a:chOff x="0" y="0"/>
            <a:chExt cx="21844000" cy="1397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1844000" cy="1397000"/>
              <a:chOff x="0" y="0"/>
              <a:chExt cx="21844000" cy="1397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844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3F2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1844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44500" y="311150"/>
              <a:ext cx="209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 b="true">
                  <a:solidFill>
                    <a:srgbClr val="12243A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El repositorio permite demostrar qué se planificó, qué se implementó, cómo se probó y cuándo se completó cada tarea.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DAHWhxnrY0s</dc:identifier>
  <dcterms:modified xsi:type="dcterms:W3CDTF">2011-08-01T06:04:30Z</dcterms:modified>
  <cp:revision>1</cp:revision>
  <dc:title>Simulador CPU 8 bits</dc:title>
</cp:coreProperties>
</file>